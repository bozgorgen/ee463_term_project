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B9269E-4CC9-531B-2339-62C84EEB1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9B1696F-C8BE-241B-E01A-9437553FA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19C53A0-081F-EF32-1994-AB62178E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E9A4E1D-9AF6-6222-6D50-9C865D76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71BC91B-B9A0-31DA-8959-11D09D484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5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436D9A-C164-E33E-BB32-D7615A36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3F329B-9D9D-E4C6-0DE7-5ABD2F6A3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3CF334D-5056-8561-0C54-A6F43CC03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F62AF3-FB9A-6783-024E-4D5F5753C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30BEBF0-4F66-919D-F97D-B8F83D10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0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104AD6-A7CD-5923-A457-F8852B85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2BFA584-53A8-9DA0-BE5C-9CF7B382F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E794F6B-1BDE-4329-43BF-05CDCD53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759B6A-B68E-B1D1-F42A-C21DED99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2CE413E-5A62-E6E9-201E-C994AD99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88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5DC10A-5256-DE57-835D-50E4E19A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D67BA4A-B378-D721-BB02-71F6F978C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D8CD78F-6CAA-B0CD-C427-34A0E12A0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1CCA9EE-B913-4BA0-CC75-A41A6BB58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DC48453-10F5-4A79-755E-9929F147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E6ED0AF-4E6D-2F22-7550-9E24831D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3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274E0B-12EB-B0A7-81B7-12CBF66C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65E9301-5F3E-FF15-1B79-96732A8D9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6CAD8B-38BF-7ED5-D3FE-D41F216E3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7B1E9C7A-DC7C-5F4E-C841-E900DA34C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119E98E-40EE-1871-4AA1-F5BE4523A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39BB111-68AC-D68D-960F-2989F5FE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A57D2BB-537E-BEC2-6A45-F4BA4451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3F2AB3F-D9A4-5CD5-7068-CA191E91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5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FDF3C7-F198-7035-87FE-42945AB4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F63372E-AABB-4BDD-F3E7-0DB71164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CF9583A-9BAA-56FF-3423-F9E8B54B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E22C02B-B92E-5141-6338-90C3F394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9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ED92F92-BDD3-4C22-4D14-374E0372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31BFC01-2718-97FB-74DC-A34CC19D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CF25015-0DC4-2B54-149B-F77C3BAC9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9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8568DD-2272-FDF8-FB0B-C0118A79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35335F-C6C4-B7DB-120D-CF1F3C138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2F996A8-9B14-2B56-CC6A-62398A97C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F54FA10-CD38-34CA-D8CF-71765FE4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0092872-61A9-863D-61BE-9A000024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3CF1238-023A-152B-F0EC-95A601C6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94CD8D-51A8-0336-89AF-8FC5013A9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68ADE04-CC00-5383-D994-5F4A282672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D1E905A-EA69-8884-BBED-D7719F89E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FFF6E98-8BE9-E9FC-4AB9-C6CF05E5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2A15CA8-ED5C-A85A-C008-866987D8A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74EC64D-AC47-FC84-1E60-2E5AD63D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80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66A906-1E5E-1DDF-8F6F-93EBD3B6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7B124CD-B914-5587-6043-1598253F2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48CE76F-2CBC-8AA0-C85F-80B6DD606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0207941-0DFD-032C-0D51-5AAA4738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D36828-EC57-284E-03AC-348D2710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9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E706562-DED4-4E56-265B-0F23B2CF9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F89C856-14BC-F89B-14FC-716E959DE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1CE9EE4-A279-B0B8-3236-D46173B6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C455349-6FF8-3C8D-88DF-081B4917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4974671-9298-DE8F-2880-5003F898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8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AA08C82-AD45-3F53-B765-2C7C15C3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F6BD26C-035A-C561-223E-A2F1FC39C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EFFCBA2-ADCB-6ED3-BBCD-FF8F527DC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7A558-75A4-4D2A-95DF-971B63A9F4E4}" type="datetimeFigureOut">
              <a:rPr lang="en-US" smtClean="0"/>
              <a:t>12/10/2022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22667E0-1F07-9222-B8B9-20D069B35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C0184F3-85DC-6669-1C05-5C9DD1BAA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D7C9B-79AA-4B83-A814-4E33C0C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9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3BA1FE-8AD4-D858-26E9-B042B3C00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dirty="0"/>
              <a:t>3 </a:t>
            </a:r>
            <a:r>
              <a:rPr lang="tr-TR" sz="2000" dirty="0" err="1"/>
              <a:t>Phase</a:t>
            </a:r>
            <a:r>
              <a:rPr lang="tr-TR" sz="2000" dirty="0"/>
              <a:t> Bridge </a:t>
            </a:r>
            <a:r>
              <a:rPr lang="tr-TR" sz="2000" dirty="0" err="1"/>
              <a:t>Rectifier</a:t>
            </a:r>
            <a:r>
              <a:rPr lang="tr-TR" sz="2000" dirty="0"/>
              <a:t>– 36MT160</a:t>
            </a:r>
          </a:p>
          <a:p>
            <a:pPr lvl="1"/>
            <a:r>
              <a:rPr lang="tr-TR" sz="1600" dirty="0"/>
              <a:t>V</a:t>
            </a:r>
            <a:r>
              <a:rPr lang="tr-TR" sz="1600" baseline="-25000" dirty="0"/>
              <a:t>RRM</a:t>
            </a:r>
            <a:r>
              <a:rPr lang="tr-TR" sz="1600" dirty="0"/>
              <a:t> = 1600V    I</a:t>
            </a:r>
            <a:r>
              <a:rPr lang="tr-TR" sz="1600" baseline="-25000" dirty="0"/>
              <a:t>F(AV)</a:t>
            </a:r>
            <a:r>
              <a:rPr lang="tr-TR" sz="1600" dirty="0"/>
              <a:t> = 35A     V</a:t>
            </a:r>
            <a:r>
              <a:rPr lang="tr-TR" sz="1600" baseline="-25000" dirty="0"/>
              <a:t>F(</a:t>
            </a:r>
            <a:r>
              <a:rPr lang="tr-TR" sz="1600" baseline="-25000" dirty="0" err="1"/>
              <a:t>max</a:t>
            </a:r>
            <a:r>
              <a:rPr lang="tr-TR" sz="1600" baseline="-25000" dirty="0"/>
              <a:t>)</a:t>
            </a:r>
            <a:r>
              <a:rPr lang="tr-TR" sz="1600" dirty="0"/>
              <a:t> = 1.19V     R</a:t>
            </a:r>
            <a:r>
              <a:rPr lang="az-Cyrl-AZ" sz="1600" baseline="-25000" dirty="0"/>
              <a:t>Ѳ</a:t>
            </a:r>
            <a:r>
              <a:rPr lang="tr-TR" sz="1600" baseline="-25000" dirty="0"/>
              <a:t>JC</a:t>
            </a:r>
            <a:r>
              <a:rPr lang="tr-TR" sz="1600" dirty="0"/>
              <a:t> = 1.35 </a:t>
            </a:r>
            <a:r>
              <a:rPr lang="en-US" sz="1600" dirty="0"/>
              <a:t>°</a:t>
            </a:r>
            <a:r>
              <a:rPr lang="tr-TR" sz="1600" dirty="0"/>
              <a:t>C / W</a:t>
            </a:r>
          </a:p>
          <a:p>
            <a:pPr lvl="1"/>
            <a:endParaRPr lang="tr-TR" sz="1600" dirty="0"/>
          </a:p>
          <a:p>
            <a:pPr lvl="1"/>
            <a:r>
              <a:rPr lang="tr-TR" sz="1600" dirty="0"/>
              <a:t>At </a:t>
            </a:r>
            <a:r>
              <a:rPr lang="tr-TR" sz="1600" dirty="0" err="1"/>
              <a:t>maximum</a:t>
            </a:r>
            <a:r>
              <a:rPr lang="tr-TR" sz="1600" dirty="0"/>
              <a:t> </a:t>
            </a:r>
            <a:r>
              <a:rPr lang="tr-TR" sz="1600" dirty="0" err="1"/>
              <a:t>we</a:t>
            </a:r>
            <a:r>
              <a:rPr lang="tr-TR" sz="1600" dirty="0"/>
              <a:t> </a:t>
            </a:r>
            <a:r>
              <a:rPr lang="tr-TR" sz="1600" dirty="0" err="1"/>
              <a:t>draw</a:t>
            </a:r>
            <a:r>
              <a:rPr lang="tr-TR" sz="1600" dirty="0"/>
              <a:t> 2kW </a:t>
            </a:r>
            <a:r>
              <a:rPr lang="tr-TR" sz="1600" dirty="0" err="1"/>
              <a:t>power</a:t>
            </a:r>
            <a:r>
              <a:rPr lang="tr-TR" sz="1600" dirty="0"/>
              <a:t> at 180V </a:t>
            </a:r>
            <a:r>
              <a:rPr lang="tr-TR" sz="1600" dirty="0" err="1"/>
              <a:t>level</a:t>
            </a:r>
            <a:r>
              <a:rPr lang="tr-TR" sz="1600" dirty="0"/>
              <a:t>.  At </a:t>
            </a:r>
            <a:r>
              <a:rPr lang="tr-TR" sz="1600" dirty="0" err="1"/>
              <a:t>this</a:t>
            </a:r>
            <a:r>
              <a:rPr lang="tr-TR" sz="1600" dirty="0"/>
              <a:t> </a:t>
            </a:r>
            <a:r>
              <a:rPr lang="tr-TR" sz="1600" dirty="0" err="1"/>
              <a:t>level</a:t>
            </a:r>
            <a:r>
              <a:rPr lang="tr-TR" sz="1600" dirty="0"/>
              <a:t> </a:t>
            </a:r>
            <a:r>
              <a:rPr lang="tr-TR" sz="1600" dirty="0" err="1"/>
              <a:t>maximum</a:t>
            </a:r>
            <a:r>
              <a:rPr lang="tr-TR" sz="1600" dirty="0"/>
              <a:t> </a:t>
            </a:r>
            <a:r>
              <a:rPr lang="tr-TR" sz="1600" dirty="0" err="1"/>
              <a:t>load</a:t>
            </a:r>
            <a:r>
              <a:rPr lang="tr-TR" sz="1600" dirty="0"/>
              <a:t> </a:t>
            </a:r>
            <a:r>
              <a:rPr lang="tr-TR" sz="1600" dirty="0" err="1"/>
              <a:t>current</a:t>
            </a:r>
            <a:r>
              <a:rPr lang="tr-TR" sz="1600" dirty="0"/>
              <a:t> is 11.1 A. </a:t>
            </a:r>
          </a:p>
          <a:p>
            <a:pPr lvl="1"/>
            <a:endParaRPr lang="tr-TR" sz="1600" dirty="0"/>
          </a:p>
          <a:p>
            <a:pPr lvl="1"/>
            <a:r>
              <a:rPr lang="tr-TR" sz="1600" dirty="0" err="1"/>
              <a:t>P</a:t>
            </a:r>
            <a:r>
              <a:rPr lang="tr-TR" sz="1600" baseline="-25000" dirty="0" err="1"/>
              <a:t>loss</a:t>
            </a:r>
            <a:r>
              <a:rPr lang="tr-TR" sz="1600" baseline="-25000" dirty="0"/>
              <a:t>(</a:t>
            </a:r>
            <a:r>
              <a:rPr lang="tr-TR" sz="1600" baseline="-25000" dirty="0" err="1"/>
              <a:t>max</a:t>
            </a:r>
            <a:r>
              <a:rPr lang="tr-TR" sz="1600" baseline="-25000" dirty="0"/>
              <a:t>)</a:t>
            </a:r>
            <a:r>
              <a:rPr lang="tr-TR" sz="1600" dirty="0"/>
              <a:t> = 11.1 * 1.19 = 13.2W</a:t>
            </a:r>
          </a:p>
          <a:p>
            <a:pPr lvl="1"/>
            <a:endParaRPr lang="tr-TR" sz="1600" dirty="0"/>
          </a:p>
          <a:p>
            <a:pPr lvl="1"/>
            <a:r>
              <a:rPr lang="tr-TR" sz="1600" dirty="0" err="1"/>
              <a:t>Temperature</a:t>
            </a:r>
            <a:r>
              <a:rPr lang="tr-TR" sz="1600" dirty="0"/>
              <a:t> </a:t>
            </a:r>
            <a:r>
              <a:rPr lang="tr-TR" sz="1600" dirty="0" err="1"/>
              <a:t>increase</a:t>
            </a:r>
            <a:r>
              <a:rPr lang="tr-TR" sz="1600" dirty="0"/>
              <a:t> 1.35 * 13.2 = 17.8</a:t>
            </a:r>
            <a:r>
              <a:rPr lang="en-US" sz="1600" dirty="0"/>
              <a:t> °</a:t>
            </a:r>
            <a:r>
              <a:rPr lang="tr-TR" sz="1600" dirty="0"/>
              <a:t>C at </a:t>
            </a:r>
            <a:r>
              <a:rPr lang="tr-TR" sz="1600" dirty="0" err="1"/>
              <a:t>maximum</a:t>
            </a:r>
            <a:r>
              <a:rPr lang="tr-TR" sz="1600" dirty="0"/>
              <a:t> </a:t>
            </a:r>
            <a:r>
              <a:rPr lang="tr-TR" sz="1600" dirty="0" err="1"/>
              <a:t>condition</a:t>
            </a:r>
            <a:r>
              <a:rPr lang="tr-TR" sz="1600" dirty="0"/>
              <a:t>.</a:t>
            </a:r>
          </a:p>
          <a:p>
            <a:pPr lvl="1"/>
            <a:endParaRPr lang="tr-TR" sz="1600" dirty="0"/>
          </a:p>
          <a:p>
            <a:pPr marL="457200" lvl="1" indent="0">
              <a:buNone/>
            </a:pPr>
            <a:endParaRPr lang="tr-TR" sz="16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1536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3BA1FE-8AD4-D858-26E9-B042B3C00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dirty="0" err="1"/>
              <a:t>Freewheeling</a:t>
            </a:r>
            <a:r>
              <a:rPr lang="tr-TR" sz="2000" dirty="0"/>
              <a:t> </a:t>
            </a:r>
            <a:r>
              <a:rPr lang="tr-TR" sz="2000" dirty="0" err="1"/>
              <a:t>Diode</a:t>
            </a:r>
            <a:r>
              <a:rPr lang="tr-TR" sz="2000" dirty="0"/>
              <a:t> – MUR1560G</a:t>
            </a:r>
          </a:p>
          <a:p>
            <a:pPr lvl="1"/>
            <a:r>
              <a:rPr lang="tr-TR" sz="1600" dirty="0"/>
              <a:t>V</a:t>
            </a:r>
            <a:r>
              <a:rPr lang="tr-TR" sz="1600" baseline="-25000" dirty="0"/>
              <a:t>RRM</a:t>
            </a:r>
            <a:r>
              <a:rPr lang="tr-TR" sz="1600" dirty="0"/>
              <a:t> = 600V    I</a:t>
            </a:r>
            <a:r>
              <a:rPr lang="tr-TR" sz="1600" baseline="-25000" dirty="0"/>
              <a:t>F(AV)</a:t>
            </a:r>
            <a:r>
              <a:rPr lang="tr-TR" sz="1600" dirty="0"/>
              <a:t> = 15A     V</a:t>
            </a:r>
            <a:r>
              <a:rPr lang="tr-TR" sz="1600" baseline="-25000" dirty="0"/>
              <a:t>F(</a:t>
            </a:r>
            <a:r>
              <a:rPr lang="tr-TR" sz="1600" baseline="-25000" dirty="0" err="1"/>
              <a:t>max</a:t>
            </a:r>
            <a:r>
              <a:rPr lang="tr-TR" sz="1600" baseline="-25000" dirty="0"/>
              <a:t>)</a:t>
            </a:r>
            <a:r>
              <a:rPr lang="tr-TR" sz="1600" dirty="0"/>
              <a:t> = 1.50V     R</a:t>
            </a:r>
            <a:r>
              <a:rPr lang="az-Cyrl-AZ" sz="1600" baseline="-25000" dirty="0"/>
              <a:t>Ѳ</a:t>
            </a:r>
            <a:r>
              <a:rPr lang="tr-TR" sz="1600" baseline="-25000" dirty="0"/>
              <a:t>JC</a:t>
            </a:r>
            <a:r>
              <a:rPr lang="tr-TR" sz="1600" dirty="0"/>
              <a:t> = 4.25 </a:t>
            </a:r>
            <a:r>
              <a:rPr lang="en-US" sz="1600" dirty="0"/>
              <a:t>°</a:t>
            </a:r>
            <a:r>
              <a:rPr lang="tr-TR" sz="1600" dirty="0"/>
              <a:t>C / W</a:t>
            </a:r>
          </a:p>
          <a:p>
            <a:pPr marL="457200" lvl="1" indent="0">
              <a:buNone/>
            </a:pPr>
            <a:endParaRPr lang="tr-TR" sz="1600" dirty="0"/>
          </a:p>
          <a:p>
            <a:pPr lvl="1"/>
            <a:r>
              <a:rPr lang="tr-TR" sz="1600" dirty="0" err="1"/>
              <a:t>P</a:t>
            </a:r>
            <a:r>
              <a:rPr lang="tr-TR" sz="1600" baseline="-25000" dirty="0" err="1"/>
              <a:t>loss</a:t>
            </a:r>
            <a:r>
              <a:rPr lang="tr-TR" sz="1600" baseline="-25000" dirty="0"/>
              <a:t>(</a:t>
            </a:r>
            <a:r>
              <a:rPr lang="tr-TR" sz="1600" baseline="-25000" dirty="0" err="1"/>
              <a:t>max</a:t>
            </a:r>
            <a:r>
              <a:rPr lang="tr-TR" sz="1600" baseline="-25000" dirty="0"/>
              <a:t>)</a:t>
            </a:r>
            <a:r>
              <a:rPr lang="tr-TR" sz="1600" dirty="0"/>
              <a:t> = 11.1 * 1.5 = 16.65W</a:t>
            </a:r>
          </a:p>
          <a:p>
            <a:pPr lvl="1"/>
            <a:endParaRPr lang="tr-TR" sz="1600" dirty="0"/>
          </a:p>
          <a:p>
            <a:pPr lvl="1"/>
            <a:r>
              <a:rPr lang="tr-TR" sz="1600" dirty="0" err="1"/>
              <a:t>Temperature</a:t>
            </a:r>
            <a:r>
              <a:rPr lang="tr-TR" sz="1600" dirty="0"/>
              <a:t> </a:t>
            </a:r>
            <a:r>
              <a:rPr lang="tr-TR" sz="1600" dirty="0" err="1"/>
              <a:t>increase</a:t>
            </a:r>
            <a:r>
              <a:rPr lang="tr-TR" sz="1600" dirty="0"/>
              <a:t> 4.25 * 16.65 = 70.7</a:t>
            </a:r>
            <a:r>
              <a:rPr lang="en-US" sz="1600" dirty="0"/>
              <a:t> °</a:t>
            </a:r>
            <a:r>
              <a:rPr lang="tr-TR" sz="1600" dirty="0"/>
              <a:t>C at </a:t>
            </a:r>
            <a:r>
              <a:rPr lang="tr-TR" sz="1600" dirty="0" err="1"/>
              <a:t>maximum</a:t>
            </a:r>
            <a:r>
              <a:rPr lang="tr-TR" sz="1600" dirty="0"/>
              <a:t> </a:t>
            </a:r>
            <a:r>
              <a:rPr lang="tr-TR" sz="1600" dirty="0" err="1"/>
              <a:t>condition</a:t>
            </a:r>
            <a:r>
              <a:rPr lang="tr-TR" sz="1600" dirty="0"/>
              <a:t>.</a:t>
            </a:r>
          </a:p>
          <a:p>
            <a:pPr lvl="1"/>
            <a:endParaRPr lang="tr-TR" sz="1600" dirty="0"/>
          </a:p>
          <a:p>
            <a:pPr lvl="1"/>
            <a:r>
              <a:rPr lang="tr-TR" sz="1600" dirty="0" err="1"/>
              <a:t>Max</a:t>
            </a:r>
            <a:r>
              <a:rPr lang="tr-TR" sz="1600" dirty="0"/>
              <a:t> </a:t>
            </a:r>
            <a:r>
              <a:rPr lang="tr-TR" sz="1600" dirty="0" err="1"/>
              <a:t>efficieny</a:t>
            </a:r>
            <a:r>
              <a:rPr lang="tr-TR" sz="1600" dirty="0"/>
              <a:t> is not </a:t>
            </a:r>
            <a:r>
              <a:rPr lang="tr-TR" sz="1600" dirty="0" err="1"/>
              <a:t>targeted</a:t>
            </a:r>
            <a:r>
              <a:rPr lang="tr-TR" sz="1600" dirty="0"/>
              <a:t>, </a:t>
            </a:r>
            <a:r>
              <a:rPr lang="tr-TR" sz="1600" dirty="0" err="1"/>
              <a:t>diode</a:t>
            </a:r>
            <a:r>
              <a:rPr lang="tr-TR" sz="1600" dirty="0"/>
              <a:t> is ultra-</a:t>
            </a:r>
            <a:r>
              <a:rPr lang="tr-TR" sz="1600" dirty="0" err="1"/>
              <a:t>fast</a:t>
            </a:r>
            <a:r>
              <a:rPr lang="tr-TR" sz="1600" dirty="0"/>
              <a:t> </a:t>
            </a:r>
            <a:r>
              <a:rPr lang="tr-TR" sz="1600" dirty="0" err="1"/>
              <a:t>rectifier</a:t>
            </a:r>
            <a:r>
              <a:rPr lang="tr-TR" sz="1600" dirty="0"/>
              <a:t> </a:t>
            </a:r>
            <a:r>
              <a:rPr lang="tr-TR" sz="1600" dirty="0" err="1"/>
              <a:t>then</a:t>
            </a:r>
            <a:r>
              <a:rPr lang="tr-TR" sz="1600" dirty="0"/>
              <a:t> </a:t>
            </a:r>
            <a:r>
              <a:rPr lang="tr-TR" sz="1600" dirty="0" err="1"/>
              <a:t>switching</a:t>
            </a:r>
            <a:r>
              <a:rPr lang="tr-TR" sz="1600" dirty="0"/>
              <a:t> </a:t>
            </a:r>
            <a:r>
              <a:rPr lang="tr-TR" sz="1600" dirty="0" err="1"/>
              <a:t>losses</a:t>
            </a:r>
            <a:r>
              <a:rPr lang="tr-TR" sz="1600" dirty="0"/>
              <a:t> </a:t>
            </a:r>
            <a:r>
              <a:rPr lang="tr-TR" sz="1600" dirty="0" err="1"/>
              <a:t>will</a:t>
            </a:r>
            <a:r>
              <a:rPr lang="tr-TR" sz="1600" dirty="0"/>
              <a:t> be </a:t>
            </a:r>
            <a:r>
              <a:rPr lang="tr-TR" sz="1600" dirty="0" err="1"/>
              <a:t>ignored</a:t>
            </a:r>
            <a:r>
              <a:rPr lang="tr-TR" sz="1600" dirty="0"/>
              <a:t>.</a:t>
            </a:r>
          </a:p>
          <a:p>
            <a:pPr lvl="1"/>
            <a:endParaRPr lang="tr-TR" sz="16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4050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3BA1FE-8AD4-D858-26E9-B042B3C00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dirty="0"/>
              <a:t>IGBT– </a:t>
            </a:r>
            <a:r>
              <a:rPr lang="en-US" sz="1800" dirty="0"/>
              <a:t>IXGH24N60C4D1</a:t>
            </a:r>
            <a:endParaRPr lang="tr-TR" sz="1800" dirty="0"/>
          </a:p>
          <a:p>
            <a:pPr lvl="1"/>
            <a:endParaRPr lang="tr-TR" sz="1200" dirty="0"/>
          </a:p>
          <a:p>
            <a:pPr lvl="1"/>
            <a:r>
              <a:rPr lang="tr-TR" sz="1600" dirty="0"/>
              <a:t>V</a:t>
            </a:r>
            <a:r>
              <a:rPr lang="tr-TR" sz="1600" baseline="-25000" dirty="0"/>
              <a:t>RRM</a:t>
            </a:r>
            <a:r>
              <a:rPr lang="tr-TR" sz="1600" dirty="0"/>
              <a:t> = 600V    I</a:t>
            </a:r>
            <a:r>
              <a:rPr lang="tr-TR" sz="1600" baseline="-25000" dirty="0"/>
              <a:t>C</a:t>
            </a:r>
            <a:r>
              <a:rPr lang="tr-TR" sz="1600" dirty="0"/>
              <a:t> = 30A     V</a:t>
            </a:r>
            <a:r>
              <a:rPr lang="tr-TR" sz="1600" baseline="-25000" dirty="0"/>
              <a:t>CE(sat)</a:t>
            </a:r>
            <a:r>
              <a:rPr lang="tr-TR" sz="1600" dirty="0"/>
              <a:t> = 1.90V     R</a:t>
            </a:r>
            <a:r>
              <a:rPr lang="az-Cyrl-AZ" sz="1600" baseline="-25000" dirty="0"/>
              <a:t>Ѳ</a:t>
            </a:r>
            <a:r>
              <a:rPr lang="tr-TR" sz="1600" baseline="-25000" dirty="0"/>
              <a:t>JC</a:t>
            </a:r>
            <a:r>
              <a:rPr lang="tr-TR" sz="1600" dirty="0"/>
              <a:t> = 0.8 </a:t>
            </a:r>
            <a:r>
              <a:rPr lang="en-US" sz="1600" dirty="0"/>
              <a:t>°</a:t>
            </a:r>
            <a:r>
              <a:rPr lang="tr-TR" sz="1600" dirty="0"/>
              <a:t>C / W     </a:t>
            </a:r>
            <a:r>
              <a:rPr lang="tr-TR" sz="1600" dirty="0" err="1"/>
              <a:t>E</a:t>
            </a:r>
            <a:r>
              <a:rPr lang="tr-TR" sz="1600" baseline="-25000" dirty="0" err="1"/>
              <a:t>on</a:t>
            </a:r>
            <a:r>
              <a:rPr lang="tr-TR" sz="1600" dirty="0"/>
              <a:t> = 1.0 </a:t>
            </a:r>
            <a:r>
              <a:rPr lang="tr-TR" sz="1600" dirty="0" err="1"/>
              <a:t>mJ</a:t>
            </a:r>
            <a:r>
              <a:rPr lang="tr-TR" sz="1600" dirty="0"/>
              <a:t>        </a:t>
            </a:r>
            <a:r>
              <a:rPr lang="tr-TR" sz="1600" dirty="0" err="1"/>
              <a:t>E</a:t>
            </a:r>
            <a:r>
              <a:rPr lang="tr-TR" sz="1600" baseline="-25000" dirty="0" err="1"/>
              <a:t>off</a:t>
            </a:r>
            <a:r>
              <a:rPr lang="tr-TR" sz="1600" dirty="0"/>
              <a:t> = 1.1 </a:t>
            </a:r>
            <a:r>
              <a:rPr lang="tr-TR" sz="1600" dirty="0" err="1"/>
              <a:t>mJ</a:t>
            </a:r>
            <a:endParaRPr lang="tr-TR" sz="1600" dirty="0"/>
          </a:p>
          <a:p>
            <a:pPr marL="457200" lvl="1" indent="0">
              <a:buNone/>
            </a:pPr>
            <a:endParaRPr lang="tr-TR" sz="1600" dirty="0"/>
          </a:p>
          <a:p>
            <a:pPr lvl="1"/>
            <a:r>
              <a:rPr lang="tr-TR" sz="1600" dirty="0" err="1"/>
              <a:t>P</a:t>
            </a:r>
            <a:r>
              <a:rPr lang="tr-TR" sz="1600" baseline="-25000" dirty="0" err="1"/>
              <a:t>loss</a:t>
            </a:r>
            <a:r>
              <a:rPr lang="tr-TR" sz="1600" baseline="-25000" dirty="0"/>
              <a:t>(</a:t>
            </a:r>
            <a:r>
              <a:rPr lang="tr-TR" sz="1600" baseline="-25000" dirty="0" err="1"/>
              <a:t>con</a:t>
            </a:r>
            <a:r>
              <a:rPr lang="tr-TR" sz="1600" baseline="-25000" dirty="0"/>
              <a:t>)</a:t>
            </a:r>
            <a:r>
              <a:rPr lang="tr-TR" sz="1600" dirty="0"/>
              <a:t> = 11.1 * 1.9 = 21.1 W</a:t>
            </a:r>
          </a:p>
          <a:p>
            <a:pPr lvl="1"/>
            <a:endParaRPr lang="tr-TR" sz="1600" dirty="0"/>
          </a:p>
          <a:p>
            <a:pPr marL="457200" lvl="1" indent="0">
              <a:buNone/>
            </a:pPr>
            <a:r>
              <a:rPr lang="tr-TR" sz="1600" dirty="0" err="1"/>
              <a:t>We</a:t>
            </a:r>
            <a:r>
              <a:rPr lang="tr-TR" sz="1600" dirty="0"/>
              <a:t> </a:t>
            </a:r>
            <a:r>
              <a:rPr lang="tr-TR" sz="1600" dirty="0" err="1"/>
              <a:t>use</a:t>
            </a:r>
            <a:r>
              <a:rPr lang="tr-TR" sz="1600" dirty="0"/>
              <a:t> 1 kHz </a:t>
            </a:r>
            <a:r>
              <a:rPr lang="tr-TR" sz="1600" dirty="0" err="1"/>
              <a:t>switching</a:t>
            </a:r>
            <a:r>
              <a:rPr lang="tr-TR" sz="1600" dirty="0"/>
              <a:t> </a:t>
            </a:r>
            <a:r>
              <a:rPr lang="tr-TR" sz="1600" dirty="0" err="1"/>
              <a:t>frequency</a:t>
            </a:r>
            <a:r>
              <a:rPr lang="tr-TR" sz="1600" dirty="0"/>
              <a:t>;</a:t>
            </a:r>
          </a:p>
          <a:p>
            <a:pPr lvl="1"/>
            <a:endParaRPr lang="tr-TR" sz="1600" dirty="0"/>
          </a:p>
          <a:p>
            <a:pPr lvl="1"/>
            <a:r>
              <a:rPr lang="tr-TR" sz="1600" dirty="0" err="1"/>
              <a:t>P</a:t>
            </a:r>
            <a:r>
              <a:rPr lang="tr-TR" sz="1600" baseline="-25000" dirty="0" err="1"/>
              <a:t>loss</a:t>
            </a:r>
            <a:r>
              <a:rPr lang="tr-TR" sz="1600" baseline="-25000" dirty="0"/>
              <a:t>(</a:t>
            </a:r>
            <a:r>
              <a:rPr lang="tr-TR" sz="1600" baseline="-25000" dirty="0" err="1"/>
              <a:t>sw</a:t>
            </a:r>
            <a:r>
              <a:rPr lang="tr-TR" sz="1600" baseline="-25000" dirty="0"/>
              <a:t>)</a:t>
            </a:r>
            <a:r>
              <a:rPr lang="tr-TR" sz="1600" dirty="0"/>
              <a:t> = 1kHz * (1+1.1)</a:t>
            </a:r>
            <a:r>
              <a:rPr lang="tr-TR" sz="1600" dirty="0" err="1"/>
              <a:t>mJ</a:t>
            </a:r>
            <a:r>
              <a:rPr lang="tr-TR" sz="1600" dirty="0"/>
              <a:t> = 2.1 W</a:t>
            </a:r>
          </a:p>
          <a:p>
            <a:pPr marL="457200" lvl="1" indent="0">
              <a:buNone/>
            </a:pPr>
            <a:endParaRPr lang="tr-TR" sz="1600" dirty="0"/>
          </a:p>
          <a:p>
            <a:pPr lvl="1"/>
            <a:r>
              <a:rPr lang="tr-TR" sz="1600" dirty="0" err="1"/>
              <a:t>Temperature</a:t>
            </a:r>
            <a:r>
              <a:rPr lang="tr-TR" sz="1600" dirty="0"/>
              <a:t> </a:t>
            </a:r>
            <a:r>
              <a:rPr lang="tr-TR" sz="1600" dirty="0" err="1"/>
              <a:t>increase</a:t>
            </a:r>
            <a:r>
              <a:rPr lang="tr-TR" sz="1600" dirty="0"/>
              <a:t> 0.8 * (2.1+21.1) = 18.6</a:t>
            </a:r>
            <a:r>
              <a:rPr lang="en-US" sz="1600" dirty="0"/>
              <a:t> °</a:t>
            </a:r>
            <a:r>
              <a:rPr lang="tr-TR" sz="1600" dirty="0"/>
              <a:t>C at </a:t>
            </a:r>
            <a:r>
              <a:rPr lang="tr-TR" sz="1600" dirty="0" err="1"/>
              <a:t>maximum</a:t>
            </a:r>
            <a:r>
              <a:rPr lang="tr-TR" sz="1600" dirty="0"/>
              <a:t> </a:t>
            </a:r>
            <a:r>
              <a:rPr lang="tr-TR" sz="1600" dirty="0" err="1"/>
              <a:t>condition</a:t>
            </a:r>
            <a:r>
              <a:rPr lang="tr-TR" sz="1600" dirty="0"/>
              <a:t>.</a:t>
            </a:r>
          </a:p>
          <a:p>
            <a:pPr lvl="1"/>
            <a:endParaRPr lang="tr-TR" sz="1600" dirty="0"/>
          </a:p>
          <a:p>
            <a:pPr marL="457200" lvl="1" indent="0">
              <a:buNone/>
            </a:pPr>
            <a:endParaRPr lang="tr-TR" sz="16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12932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220</Words>
  <Application>Microsoft Office PowerPoint</Application>
  <PresentationFormat>Geniş ekran</PresentationFormat>
  <Paragraphs>29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Ahmet Furkan Gürsoy</dc:creator>
  <cp:lastModifiedBy>Ahmet Furkan Gürsoy</cp:lastModifiedBy>
  <cp:revision>2</cp:revision>
  <dcterms:created xsi:type="dcterms:W3CDTF">2022-12-10T14:30:58Z</dcterms:created>
  <dcterms:modified xsi:type="dcterms:W3CDTF">2022-12-10T17:06:17Z</dcterms:modified>
</cp:coreProperties>
</file>